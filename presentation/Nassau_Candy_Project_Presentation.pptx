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46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4206240" cy="4206240"/>
          </a:xfrm>
          <a:prstGeom prst="arc">
            <a:avLst/>
          </a:prstGeom>
          <a:solidFill>
            <a:srgbClr val="0B132B">
              <a:alpha val="0"/>
            </a:srgbClr>
          </a:solidFill>
          <a:ln w="25400">
            <a:solidFill>
              <a:srgbClr val="F2C14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103120"/>
            <a:ext cx="3383280" cy="3383280"/>
          </a:xfrm>
          <a:prstGeom prst="arc">
            <a:avLst/>
          </a:prstGeom>
          <a:solidFill>
            <a:srgbClr val="0B132B">
              <a:alpha val="0"/>
            </a:srgbClr>
          </a:solidFill>
          <a:ln w="2540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9436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14E"/>
                </a:solidFill>
              </a:rPr>
              <a:t>NASSAU CANDY DISTRIBUTOR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Product-Line Profitability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Margin Risk Analytics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6217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DE3ED"/>
                </a:solidFill>
              </a:rPr>
              <a:t>End-to-End EDA, Pareto Concentration, Cost Diagnostics, Margin Volatility, Research Paper and </a:t>
            </a:r>
            <a:r>
              <a:rPr lang="en-US" sz="1550" dirty="0" err="1">
                <a:solidFill>
                  <a:srgbClr val="DDE3ED"/>
                </a:solidFill>
              </a:rPr>
              <a:t>Streamlit</a:t>
            </a:r>
            <a:r>
              <a:rPr lang="en-US" sz="1550" dirty="0">
                <a:solidFill>
                  <a:srgbClr val="DDE3ED"/>
                </a:solidFill>
              </a:rPr>
              <a:t> Decision-Support Dashboard.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58368" y="324612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319272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32B"/>
                </a:solidFill>
              </a:rPr>
              <a:t>Data Analyst Project Portfolio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37947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3ED"/>
                </a:solidFill>
              </a:rPr>
              <a:t>Prasanta Das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DE3ED"/>
                </a:solidFill>
              </a:rPr>
              <a:t>B.Tech Information Technology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10881360" cy="960120"/>
          </a:xfrm>
          <a:prstGeom prst="rect">
            <a:avLst/>
          </a:prstGeom>
          <a:solidFill>
            <a:srgbClr val="15213D"/>
          </a:solidFill>
          <a:ln w="12700">
            <a:solidFill>
              <a:srgbClr val="2837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257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10,194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" y="5650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Cleaned records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88920" y="5257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$141.8K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88920" y="5650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Total sales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5257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65.91%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09160" y="5650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Gross margin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20840" y="5257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 products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20840" y="56509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Drive 95% profit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15400" y="5257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Streamlit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15400" y="56509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Live dashboard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B2C5"/>
                </a:solidFill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CANDY DISTRIBUTOR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project matters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AD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32B"/>
                </a:solidFill>
              </a:rPr>
              <a:t>Sales volume alone can hide weak unit economics, cost pressure, and portfolio dependency.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52360" y="1170432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2C1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280160"/>
            <a:ext cx="31089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7B3F00"/>
                </a:solidFill>
              </a:rPr>
              <a:t>Revenue ≠ Profitability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975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</a:rPr>
              <a:t>Research questions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53492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C2633"/>
                </a:solidFill>
              </a:rPr>
              <a:t>Which products and divisions truly drive profit?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C2633"/>
                </a:solidFill>
              </a:rPr>
              <a:t>Where is revenue/profit concentrated?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C2633"/>
                </a:solidFill>
              </a:rPr>
              <a:t>Which products are cost-heavy or margin-poor?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C2633"/>
                </a:solidFill>
              </a:rPr>
              <a:t>Which items need repricing, renegotiation or review?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C2633"/>
                </a:solidFill>
              </a:rPr>
              <a:t>How can results be operationalized in a dashboard?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629400" y="2240280"/>
            <a:ext cx="48463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AD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4963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B7A"/>
                </a:solidFill>
              </a:rPr>
              <a:t>Decision lens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285292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B132B"/>
                </a:solidFill>
              </a:rPr>
              <a:t>Profitability = Scale × Margin × Stability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903720" y="3538728"/>
            <a:ext cx="425196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794760"/>
            <a:ext cx="4343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C2633"/>
                </a:solidFill>
              </a:rPr>
              <a:t>The project integrates financial KPIs, EDA, Pareto analysis, quantile-based cost diagnostics, margin volatility and dashboard visualization.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492"/>
                </a:solidFill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CANDY DISTRIBUTOR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 and analytical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ADDE5"/>
            </a:solidFill>
            <a:prstDash val="solid"/>
          </a:ln>
        </p:spPr>
      </p:sp>
      <p:pic>
        <p:nvPicPr>
          <p:cNvPr id="7" name="Image 0" descr="/mnt/data/ppt_assets/dashboard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27" y="1298448"/>
            <a:ext cx="611577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52360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</a:rPr>
              <a:t>Dataset profile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43800" y="1737360"/>
            <a:ext cx="1874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ADD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53528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5D99"/>
                </a:solidFill>
              </a:rPr>
              <a:t>10,194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653528" y="2157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Rows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9646920" y="1737360"/>
            <a:ext cx="1874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ADD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56648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5D99"/>
                </a:solidFill>
              </a:rPr>
              <a:t>8,549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756648" y="2157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Orders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543800" y="2651760"/>
            <a:ext cx="1874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ADD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53528" y="2761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5D99"/>
                </a:solidFill>
              </a:rPr>
              <a:t>5,044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53528" y="30723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Customers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9646920" y="2651760"/>
            <a:ext cx="1874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ADD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56648" y="2761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5D99"/>
                </a:solidFill>
              </a:rPr>
              <a:t>15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756648" y="30723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Products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7543800" y="3566160"/>
            <a:ext cx="1874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ADD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53528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5D99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653528" y="3986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Divisions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9646920" y="3566160"/>
            <a:ext cx="1874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ADD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56648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5D99"/>
                </a:solidFill>
              </a:rPr>
              <a:t>59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756648" y="3986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States/Provinces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868680" y="5074920"/>
            <a:ext cx="10332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D95D3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5840" y="5184648"/>
            <a:ext cx="10058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C2633"/>
                </a:solidFill>
              </a:rPr>
              <a:t>Known data-quality disclosure: shipping dates/durations are excluded from profitability conclusions.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492"/>
                </a:solidFill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CANDY DISTRIBUTOR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snapshot: strong margins, concentrated economics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AD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618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5D99"/>
                </a:solidFill>
              </a:rPr>
              <a:t>$141,783.63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3232" y="16550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Total Sales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46120" y="12618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B3F00"/>
                </a:solidFill>
              </a:rPr>
              <a:t>$93,442.80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16550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Gross Profit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06440" y="12618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</a:rPr>
              <a:t>65.91%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06440" y="16550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Overall Gross Margin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03920" y="12618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95D39"/>
                </a:solidFill>
              </a:rPr>
              <a:t>$48,340.83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03920" y="16550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Total Cost</a:t>
            </a:r>
            <a:endParaRPr lang="en-US" sz="950" dirty="0"/>
          </a:p>
        </p:txBody>
      </p:sp>
      <p:pic>
        <p:nvPicPr>
          <p:cNvPr id="15" name="Image 0" descr="/mnt/data/ppt_assets/product_profit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31" y="2240280"/>
            <a:ext cx="5368379" cy="37307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8096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</a:rPr>
              <a:t>Key reading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18120" y="2788920"/>
            <a:ext cx="37490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C2633"/>
                </a:solidFill>
              </a:rPr>
              <a:t>Five Chocolate products dominate absolute gross profit.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C2633"/>
                </a:solidFill>
              </a:rPr>
              <a:t>Aggregate margins are healthy, but portfolio risk is hidden inside the product mix.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C2633"/>
                </a:solidFill>
              </a:rPr>
              <a:t>Scale and margin must be interpreted together.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492"/>
                </a:solidFill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CANDY DISTRIBUTOR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Product-level profitability: winners and warning signs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ADDE5"/>
            </a:solidFill>
            <a:prstDash val="solid"/>
          </a:ln>
        </p:spPr>
      </p:sp>
      <p:pic>
        <p:nvPicPr>
          <p:cNvPr id="7" name="Image 0" descr="/mnt/data/nassau_research_assets/fig2_product_gross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6774"/>
            <a:ext cx="5577840" cy="36958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9400" y="1234440"/>
            <a:ext cx="4846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ADD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39712" y="144475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32B"/>
                </a:solidFill>
              </a:rPr>
              <a:t>Percentage margin is not the same as business impact.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0" y="184708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Everlasting Gobstopper shows 80% margin but only $104 gross profit.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20840" y="25146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5D3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2624328"/>
            <a:ext cx="205740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5D39"/>
                </a:solidFill>
              </a:rPr>
              <a:t>Kazookles: 7.69% margin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95D39"/>
                </a:solidFill>
              </a:rPr>
              <a:t>$0.25 profit per unit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189720" y="251460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F2C1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2624328"/>
            <a:ext cx="18745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B3F00"/>
                </a:solidFill>
              </a:rPr>
              <a:t>Core Chocolate: 64.9–71.4% margins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B3F00"/>
                </a:solidFill>
              </a:rPr>
              <a:t>High scale + high contribution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75120" y="3977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32B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39712" y="4343400"/>
            <a:ext cx="4480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1C2633"/>
                </a:solidFill>
              </a:rPr>
              <a:t>Protect high-scale, high-margin products.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1C2633"/>
                </a:solidFill>
              </a:rPr>
              <a:t>Avoid ranking products by percentage margin alone.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1C2633"/>
                </a:solidFill>
              </a:rPr>
              <a:t>Review low-sales / low-profit products using action rules.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492"/>
                </a:solidFill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CANDY DISTRIBUTOR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performance: profit engine vs structural margin issue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ADDE5"/>
            </a:solidFill>
            <a:prstDash val="solid"/>
          </a:ln>
        </p:spPr>
      </p:sp>
      <p:pic>
        <p:nvPicPr>
          <p:cNvPr id="7" name="Image 0" descr="/mnt/data/ppt_assets/division_con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21409"/>
            <a:ext cx="5943600" cy="34665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9516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</a:rPr>
              <a:t>Division economics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1691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B3F00"/>
                </a:solidFill>
              </a:rPr>
              <a:t>95.06%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995160" y="208483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Chocolate share of gross profit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37260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95D39"/>
                </a:solidFill>
              </a:rPr>
              <a:t>44.84%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372600" y="2084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Other division margin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95160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5D99"/>
                </a:solidFill>
              </a:rPr>
              <a:t>0.30%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95160" y="3364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Sugar revenue contribution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72600" y="2971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</a:rPr>
              <a:t>Insight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372600" y="3319272"/>
            <a:ext cx="2057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C2633"/>
                </a:solidFill>
              </a:rPr>
              <a:t>Chocolate contributes more profit than revenue share. Other contributes less profit than revenue share, signaling structural margin pressure.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822960" y="54864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F2C1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5596128"/>
            <a:ext cx="10149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32B"/>
                </a:solidFill>
              </a:rPr>
              <a:t>Business priority: protect Chocolate economics while improving non-Chocolate contribution.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492"/>
                </a:solidFill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CANDY DISTRIBUTOR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concentration: five products define the portfolio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ADDE5"/>
            </a:solidFill>
            <a:prstDash val="solid"/>
          </a:ln>
        </p:spPr>
      </p:sp>
      <p:pic>
        <p:nvPicPr>
          <p:cNvPr id="7" name="Image 0" descr="/mnt/data/ppt_assets/product_pareto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39199"/>
            <a:ext cx="7680960" cy="31144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371600"/>
            <a:ext cx="2971800" cy="3429000"/>
          </a:xfrm>
          <a:prstGeom prst="roundRect">
            <a:avLst>
              <a:gd name="adj" fmla="val 2462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3960" y="16642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14E"/>
                </a:solidFill>
              </a:rPr>
              <a:t>Pareto result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23960" y="2084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of 15 products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823960" y="24963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3ED"/>
                </a:solidFill>
              </a:rPr>
              <a:t>generate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23960" y="2788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92.88% revenue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95.06% gross profit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823960" y="3657600"/>
            <a:ext cx="205740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23960" y="3886200"/>
            <a:ext cx="2331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DE3ED"/>
                </a:solidFill>
              </a:rPr>
              <a:t>All five are Chocolate products, creating both a strength and an over-dependency risk.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492"/>
                </a:solidFill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CANDY DISTRIBUTOR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dependency: concentration extends to markets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ADDE5"/>
            </a:solidFill>
            <a:prstDash val="solid"/>
          </a:ln>
        </p:spPr>
      </p:sp>
      <p:pic>
        <p:nvPicPr>
          <p:cNvPr id="7" name="Image 0" descr="/mnt/data/ppt_assets/geographic_concen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94453"/>
            <a:ext cx="7315200" cy="2831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</a:rPr>
              <a:t>Dependency signals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0" y="17007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C5D99"/>
                </a:solidFill>
              </a:rPr>
              <a:t>16 / 59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412480" y="20939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states/provinces reach 80% revenue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0" y="2880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B3F00"/>
                </a:solidFill>
              </a:rPr>
              <a:t>California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412480" y="3273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largest single market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412480" y="4023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95D39"/>
                </a:solidFill>
              </a:rPr>
              <a:t>Pacific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412480" y="4416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highest-load region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2960" y="55595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633"/>
                </a:solidFill>
              </a:rPr>
              <a:t>Caveat: high-load refers to demand/order concentration, not proven logistics congestion.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492"/>
                </a:solidFill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NASSAU CANDY DISTRIBUTOR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diagnostics and margin volatility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ADDE5"/>
            </a:solidFill>
            <a:prstDash val="solid"/>
          </a:ln>
        </p:spPr>
      </p:sp>
      <p:pic>
        <p:nvPicPr>
          <p:cNvPr id="7" name="Image 0" descr="/mnt/data/ppt_assets/cost_ris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6766"/>
            <a:ext cx="5166360" cy="3455244"/>
          </a:xfrm>
          <a:prstGeom prst="rect">
            <a:avLst/>
          </a:prstGeom>
        </p:spPr>
      </p:pic>
      <p:pic>
        <p:nvPicPr>
          <p:cNvPr id="8" name="Image 1" descr="/mnt/data/ppt_assets/margin_volat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020570"/>
            <a:ext cx="5715000" cy="2222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" y="5285232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95D3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5394960"/>
            <a:ext cx="480060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D95D39"/>
                </a:solidFill>
              </a:rPr>
              <a:t>Kazookles: 92.31% cost ratio, 7.69% margin → Repricing + Cost Renegotiation</a:t>
            </a:r>
            <a:endParaRPr lang="en-US" sz="1260" dirty="0"/>
          </a:p>
        </p:txBody>
      </p:sp>
      <p:sp>
        <p:nvSpPr>
          <p:cNvPr id="11" name="Shape 7"/>
          <p:cNvSpPr/>
          <p:nvPr/>
        </p:nvSpPr>
        <p:spPr>
          <a:xfrm>
            <a:off x="6126480" y="5285232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F2C14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63640" y="5394960"/>
            <a:ext cx="480060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0B132B"/>
                </a:solidFill>
              </a:rPr>
              <a:t>Chocolate is stable; Sugar/Other drive division-level margin volatility.</a:t>
            </a:r>
            <a:endParaRPr lang="en-US" sz="1260" dirty="0"/>
          </a:p>
        </p:txBody>
      </p:sp>
      <p:sp>
        <p:nvSpPr>
          <p:cNvPr id="14" name="Text 10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492"/>
                </a:solidFill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303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analysis to decision support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3ED"/>
                </a:solidFill>
              </a:rPr>
              <a:t>Final recommendations and project deliverables</a:t>
            </a:r>
            <a:endParaRPr lang="en-US" sz="1350" dirty="0"/>
          </a:p>
        </p:txBody>
      </p:sp>
      <p:pic>
        <p:nvPicPr>
          <p:cNvPr id="5" name="Image 0" descr="/mnt/data/ppt_assets/dashboard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01528"/>
            <a:ext cx="5440680" cy="29691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2C14E"/>
                </a:solidFill>
              </a:rPr>
              <a:t>Strategic recommendations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37960" y="2057400"/>
            <a:ext cx="48920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FFFFFF"/>
                </a:solidFill>
              </a:rPr>
              <a:t>Protect the five core Chocolate products as the profit engine.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FFFFFF"/>
                </a:solidFill>
              </a:rPr>
              <a:t>Prioritize Kazookles for pricing and supplier-cost intervention.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FFFFFF"/>
                </a:solidFill>
              </a:rPr>
              <a:t>Review Fun Dip, SweeTARTS and Nerds for discontinuation or renegotiation.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FFFFFF"/>
                </a:solidFill>
              </a:rPr>
              <a:t>Diversify profitable contribution beyond Chocolate and top regions.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FFFFFF"/>
                </a:solidFill>
              </a:rPr>
              <a:t>Use the Streamlit dashboard for recurring portfolio governance.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658368" y="5074920"/>
            <a:ext cx="10863072" cy="731520"/>
          </a:xfrm>
          <a:prstGeom prst="roundRect">
            <a:avLst>
              <a:gd name="adj" fmla="val 8750"/>
            </a:avLst>
          </a:prstGeom>
          <a:solidFill>
            <a:srgbClr val="15213D"/>
          </a:solidFill>
          <a:ln w="12700">
            <a:solidFill>
              <a:srgbClr val="2837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285232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Deliverables: cleaned analysis pipeline • phase reports • research paper • </a:t>
            </a:r>
            <a:r>
              <a:rPr lang="en-US" sz="1400" b="1" dirty="0" err="1">
                <a:solidFill>
                  <a:srgbClr val="FFFFFF"/>
                </a:solidFill>
              </a:rPr>
              <a:t>Streamlit</a:t>
            </a:r>
            <a:r>
              <a:rPr lang="en-US" sz="1400" b="1" dirty="0">
                <a:solidFill>
                  <a:srgbClr val="FFFFFF"/>
                </a:solidFill>
              </a:rPr>
              <a:t> live dashboard • project review video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B2C5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617</Words>
  <Application>Microsoft Office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Project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Nassau Candy Distributor — Analytics Portfolio</dc:title>
  <dc:subject>Nassau Candy Distributor Analytics Project</dc:subject>
  <dc:creator>Prasanta Das</dc:creator>
  <cp:lastModifiedBy>PRASANTA DAS</cp:lastModifiedBy>
  <cp:revision>3</cp:revision>
  <dcterms:created xsi:type="dcterms:W3CDTF">2026-09-17T17:24:15Z</dcterms:created>
  <dcterms:modified xsi:type="dcterms:W3CDTF">2026-09-17T17:34:48Z</dcterms:modified>
</cp:coreProperties>
</file>